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280" r:id="rId2"/>
    <p:sldId id="366" r:id="rId3"/>
    <p:sldId id="380" r:id="rId4"/>
    <p:sldId id="383" r:id="rId5"/>
    <p:sldId id="384" r:id="rId6"/>
    <p:sldId id="385" r:id="rId7"/>
    <p:sldId id="386" r:id="rId8"/>
    <p:sldId id="387" r:id="rId9"/>
    <p:sldId id="388" r:id="rId10"/>
    <p:sldId id="389" r:id="rId11"/>
    <p:sldId id="390" r:id="rId12"/>
    <p:sldId id="401" r:id="rId13"/>
    <p:sldId id="391" r:id="rId14"/>
    <p:sldId id="400" r:id="rId15"/>
    <p:sldId id="392" r:id="rId16"/>
    <p:sldId id="402" r:id="rId17"/>
    <p:sldId id="403" r:id="rId18"/>
    <p:sldId id="405" r:id="rId19"/>
    <p:sldId id="404" r:id="rId20"/>
    <p:sldId id="393" r:id="rId21"/>
    <p:sldId id="394" r:id="rId22"/>
    <p:sldId id="398" r:id="rId23"/>
    <p:sldId id="395" r:id="rId24"/>
    <p:sldId id="397" r:id="rId25"/>
    <p:sldId id="399"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p:scale>
          <a:sx n="66" d="100"/>
          <a:sy n="66" d="100"/>
        </p:scale>
        <p:origin x="2045" y="4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4028825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1657421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1815680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188329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142788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4201760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smtClean="0">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smtClean="0">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smtClean="0">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hyperlink" Target="https://ieeexplore.ieee.org/author/37085392247" TargetMode="External"/><Relationship Id="rId5" Type="http://schemas.openxmlformats.org/officeDocument/2006/relationships/hyperlink" Target="https://ieeexplore.ieee.org/author/37089373594" TargetMode="External"/><Relationship Id="rId4" Type="http://schemas.openxmlformats.org/officeDocument/2006/relationships/hyperlink" Target="https://ieeexplore.ieee.org/author/37089374544"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5078295" cy="1323439"/>
            </a:xfrm>
            <a:prstGeom prst="rect">
              <a:avLst/>
            </a:prstGeom>
            <a:noFill/>
          </p:spPr>
          <p:txBody>
            <a:bodyPr wrap="square" rtlCol="0">
              <a:spAutoFit/>
            </a:bodyPr>
            <a:lstStyle/>
            <a:p>
              <a:r>
                <a:rPr lang="en-US" sz="2000" b="1" dirty="0" smtClean="0"/>
                <a:t>220701114</a:t>
              </a:r>
              <a:endParaRPr lang="en-US" sz="2000" b="1" dirty="0" smtClean="0"/>
            </a:p>
            <a:p>
              <a:r>
                <a:rPr lang="en-US" sz="2000" b="1" dirty="0" smtClean="0"/>
                <a:t>Kaaviya G</a:t>
              </a:r>
              <a:endParaRPr lang="en-US" sz="2000" b="1" dirty="0" smtClean="0"/>
            </a:p>
            <a:p>
              <a:r>
                <a:rPr lang="en-US" sz="2000" b="1" dirty="0" smtClean="0"/>
                <a:t>Mrs. J. </a:t>
              </a:r>
              <a:r>
                <a:rPr lang="en-US" sz="2000" b="1" dirty="0" err="1" smtClean="0"/>
                <a:t>Jinu</a:t>
              </a:r>
              <a:r>
                <a:rPr lang="en-US" sz="2000" b="1" dirty="0" smtClean="0"/>
                <a:t> Sophia</a:t>
              </a:r>
            </a:p>
            <a:p>
              <a:r>
                <a:rPr lang="en-US" sz="2000" b="1" dirty="0" smtClean="0"/>
                <a:t>Assistant Professor(SG) </a:t>
              </a:r>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819014"/>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smtClean="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smtClean="0">
                      <a:solidFill>
                        <a:schemeClr val="bg1"/>
                      </a:solidFill>
                      <a:ea typeface="Open Sans Light" panose="020B0306030504020204" pitchFamily="34" charset="0"/>
                      <a:cs typeface="Open Sans Light" panose="020B0306030504020204" pitchFamily="34" charset="0"/>
                    </a:rPr>
                    <a:t>Robotic Process Automation </a:t>
                  </a:r>
                  <a:endParaRPr lang="en-US" sz="2000" b="1" dirty="0">
                    <a:solidFill>
                      <a:schemeClr val="bg1"/>
                    </a:solidFill>
                    <a:ea typeface="Open Sans Light" panose="020B0306030504020204" pitchFamily="34" charset="0"/>
                    <a:cs typeface="Open Sans Light" panose="020B0306030504020204" pitchFamily="34" charset="0"/>
                  </a:endParaRPr>
                </a:p>
              </p:txBody>
            </p:sp>
          </p:grpSp>
          <p:sp>
            <p:nvSpPr>
              <p:cNvPr id="48" name="TextBox 47"/>
              <p:cNvSpPr txBox="1"/>
              <p:nvPr/>
            </p:nvSpPr>
            <p:spPr>
              <a:xfrm>
                <a:off x="177781" y="2100903"/>
                <a:ext cx="5638205" cy="2308324"/>
              </a:xfrm>
              <a:prstGeom prst="rect">
                <a:avLst/>
              </a:prstGeom>
              <a:noFill/>
            </p:spPr>
            <p:txBody>
              <a:bodyPr wrap="square" rtlCol="0">
                <a:spAutoFit/>
              </a:bodyPr>
              <a:lstStyle/>
              <a:p>
                <a:r>
                  <a:rPr lang="en-US" sz="4800" b="1" dirty="0" smtClean="0">
                    <a:solidFill>
                      <a:schemeClr val="bg1"/>
                    </a:solidFill>
                    <a:ea typeface="Open Sans Bold" panose="020B0806030504020204" pitchFamily="34" charset="0"/>
                    <a:cs typeface="Open Sans Bold" panose="020B0806030504020204" pitchFamily="34" charset="0"/>
                  </a:rPr>
                  <a:t>EXCEL-TO-CERTIFICATE AUTOMATION</a:t>
                </a:r>
                <a:endParaRPr lang="en-US" sz="4800" b="1" dirty="0" smtClean="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GB" dirty="0" smtClean="0"/>
              <a:t>	 This </a:t>
            </a:r>
            <a:r>
              <a:rPr lang="en-GB" dirty="0"/>
              <a:t>RPA project in </a:t>
            </a:r>
            <a:r>
              <a:rPr lang="en-GB" dirty="0" err="1"/>
              <a:t>UiPath</a:t>
            </a:r>
            <a:r>
              <a:rPr lang="en-GB" dirty="0"/>
              <a:t> Studio automates the generation of participation certificates by leveraging data from an Excel sheet and a PowerPoint certificate template. The process begins with reading participant details, such as names, from the Excel file. For each entry, the bot opens the PowerPoint template, dynamically replaces placeholders with the participant's information, and exports the customized certificate as a PDF file. This ensures an efficient, accurate, and scalable solution for bulk certificate creation, eliminating manual errors and saving significant time. The final certificates are stored in a designated folder, ready for distribution.</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GB" dirty="0" smtClean="0"/>
              <a:t>	Manually </a:t>
            </a:r>
            <a:r>
              <a:rPr lang="en-GB" dirty="0"/>
              <a:t>generating participation certificates for large events or training sessions is a repetitive, time-consuming, and error-prone task. The proposed system addresses these challenges by automating the certificate creation process, ensuring accuracy, uniformity, and efficiency. It eliminates the need for manual data entry and formatting, reducing the risk of errors such as misspelled names or incorrect details. Additionally, the system can handle large volumes of data quickly, making it ideal for events with numerous participants. By leveraging RPA, organizations can save significant time and resources, streamline their operations, and focus on more strategic activities.</a:t>
            </a: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4" name="Rectangle 1"/>
          <p:cNvSpPr>
            <a:spLocks noGrp="1" noChangeArrowheads="1"/>
          </p:cNvSpPr>
          <p:nvPr>
            <p:ph idx="1"/>
          </p:nvPr>
        </p:nvSpPr>
        <p:spPr bwMode="auto">
          <a:xfrm>
            <a:off x="190500" y="1210778"/>
            <a:ext cx="87630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Time Efficiency:</a:t>
            </a:r>
            <a:r>
              <a:rPr kumimoji="0" lang="en-US" altLang="en-US" b="0" i="0" u="none" strike="noStrike" cap="none" normalizeH="0" baseline="0" dirty="0" smtClean="0">
                <a:ln>
                  <a:noFill/>
                </a:ln>
                <a:solidFill>
                  <a:schemeClr val="tx1"/>
                </a:solidFill>
                <a:effectLst/>
              </a:rPr>
              <a:t> Automates the repetitive process of certificate generation, significantly reducing the time required for creating certificates manually.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Accuracy and Consistency:</a:t>
            </a:r>
            <a:r>
              <a:rPr kumimoji="0" lang="en-US" altLang="en-US" b="0" i="0" u="none" strike="noStrike" cap="none" normalizeH="0" baseline="0" dirty="0" smtClean="0">
                <a:ln>
                  <a:noFill/>
                </a:ln>
                <a:solidFill>
                  <a:schemeClr val="tx1"/>
                </a:solidFill>
                <a:effectLst/>
              </a:rPr>
              <a:t> Ensures uniform formatting and eliminates human errors in the participant details, such as names and other dynamic fields.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Scalability:</a:t>
            </a:r>
            <a:r>
              <a:rPr kumimoji="0" lang="en-US" altLang="en-US" b="0" i="0" u="none" strike="noStrike" cap="none" normalizeH="0" baseline="0" dirty="0" smtClean="0">
                <a:ln>
                  <a:noFill/>
                </a:ln>
                <a:solidFill>
                  <a:schemeClr val="tx1"/>
                </a:solidFill>
                <a:effectLst/>
              </a:rPr>
              <a:t> Capable of processing a large number of certificates efficiently, making it ideal for events or programs with numerous participants.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Cost-Effective:</a:t>
            </a:r>
            <a:r>
              <a:rPr kumimoji="0" lang="en-US" altLang="en-US" b="0" i="0" u="none" strike="noStrike" cap="none" normalizeH="0" baseline="0" dirty="0" smtClean="0">
                <a:ln>
                  <a:noFill/>
                </a:ln>
                <a:solidFill>
                  <a:schemeClr val="tx1"/>
                </a:solidFill>
                <a:effectLst/>
              </a:rPr>
              <a:t> Reduces the need for manual labor, thereby lowering operational costs associated with certificate creation.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rPr>
              <a:t>Ease of Use:</a:t>
            </a:r>
            <a:r>
              <a:rPr kumimoji="0" lang="en-US" altLang="en-US" b="0" i="0" u="none" strike="noStrike" cap="none" normalizeH="0" baseline="0" dirty="0" smtClean="0">
                <a:ln>
                  <a:noFill/>
                </a:ln>
                <a:solidFill>
                  <a:schemeClr val="tx1"/>
                </a:solidFill>
                <a:effectLst/>
              </a:rPr>
              <a:t> Requires minimal user intervention once set up, allowing the process to run seamlessly.</a:t>
            </a:r>
          </a:p>
        </p:txBody>
      </p:sp>
    </p:spTree>
    <p:custDataLst>
      <p:tags r:id="rId1"/>
    </p:custDataLst>
    <p:extLst>
      <p:ext uri="{BB962C8B-B14F-4D97-AF65-F5344CB8AC3E}">
        <p14:creationId xmlns:p14="http://schemas.microsoft.com/office/powerpoint/2010/main" val="13323072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buNone/>
            </a:pPr>
            <a:r>
              <a:rPr lang="en-GB" b="1" dirty="0"/>
              <a:t>Title:</a:t>
            </a:r>
            <a:r>
              <a:rPr lang="en-GB" dirty="0"/>
              <a:t> Automation of Document Generation Using Robotic Process </a:t>
            </a:r>
            <a:r>
              <a:rPr lang="en-GB" dirty="0" smtClean="0"/>
              <a:t>Automation</a:t>
            </a:r>
          </a:p>
          <a:p>
            <a:pPr marL="0" indent="0">
              <a:buNone/>
            </a:pPr>
            <a:r>
              <a:rPr lang="en-GB" b="1" dirty="0"/>
              <a:t>Advantages:</a:t>
            </a:r>
          </a:p>
          <a:p>
            <a:r>
              <a:rPr lang="en-GB" dirty="0"/>
              <a:t>Demonstrates significant time savings for bulk document generation.</a:t>
            </a:r>
          </a:p>
          <a:p>
            <a:r>
              <a:rPr lang="en-GB" dirty="0"/>
              <a:t>High accuracy due to automated data handling and integration.</a:t>
            </a:r>
          </a:p>
          <a:p>
            <a:pPr marL="0" indent="0">
              <a:buNone/>
            </a:pPr>
            <a:r>
              <a:rPr lang="en-GB" b="1" dirty="0"/>
              <a:t>Disadvantages:</a:t>
            </a:r>
          </a:p>
          <a:p>
            <a:r>
              <a:rPr lang="en-GB" dirty="0"/>
              <a:t>Limited focus on error handling when template placeholders are incorrectly defined.</a:t>
            </a:r>
          </a:p>
          <a:p>
            <a:pPr marL="0" indent="0">
              <a:buNone/>
            </a:pPr>
            <a:endParaRPr lang="en-US" dirty="0" smtClean="0"/>
          </a:p>
          <a:p>
            <a:pPr marL="0" indent="0">
              <a:buNone/>
            </a:pPr>
            <a:r>
              <a:rPr lang="en-GB" b="1" dirty="0"/>
              <a:t>Title:</a:t>
            </a:r>
            <a:r>
              <a:rPr lang="en-GB" dirty="0"/>
              <a:t> Enhancing Event Management Through Automated Certificate Generation</a:t>
            </a:r>
            <a:endParaRPr lang="en-US" dirty="0" smtClean="0"/>
          </a:p>
          <a:p>
            <a:r>
              <a:rPr lang="en-GB" b="1" dirty="0"/>
              <a:t>Advantages:</a:t>
            </a:r>
          </a:p>
          <a:p>
            <a:r>
              <a:rPr lang="en-GB" dirty="0"/>
              <a:t>Tailored specifically for event-based scenarios, showcasing real-world use cases.</a:t>
            </a:r>
          </a:p>
          <a:p>
            <a:r>
              <a:rPr lang="en-GB" b="1" dirty="0"/>
              <a:t>Disadvantages:</a:t>
            </a:r>
          </a:p>
          <a:p>
            <a:r>
              <a:rPr lang="en-GB" dirty="0"/>
              <a:t>The setup process is time-intensive, requiring detailed template customization.</a:t>
            </a:r>
          </a:p>
          <a:p>
            <a:endParaRPr lang="en-US" dirty="0" smtClean="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Main Objective</a:t>
            </a:r>
            <a:endParaRPr lang="en-IN" dirty="0">
              <a:latin typeface="+mj-lt"/>
            </a:endParaRPr>
          </a:p>
        </p:txBody>
      </p:sp>
      <p:sp>
        <p:nvSpPr>
          <p:cNvPr id="3" name="Content Placeholder 2"/>
          <p:cNvSpPr>
            <a:spLocks noGrp="1"/>
          </p:cNvSpPr>
          <p:nvPr>
            <p:ph idx="1"/>
          </p:nvPr>
        </p:nvSpPr>
        <p:spPr/>
        <p:txBody>
          <a:bodyPr/>
          <a:lstStyle/>
          <a:p>
            <a:pPr marL="0" indent="0">
              <a:buNone/>
            </a:pPr>
            <a:endParaRPr lang="en-GB" dirty="0" smtClean="0"/>
          </a:p>
          <a:p>
            <a:pPr marL="0" indent="0">
              <a:buNone/>
            </a:pPr>
            <a:r>
              <a:rPr lang="en-GB" dirty="0" smtClean="0"/>
              <a:t>	The </a:t>
            </a:r>
            <a:r>
              <a:rPr lang="en-GB" dirty="0"/>
              <a:t>primary objective of the proposed system is to </a:t>
            </a:r>
            <a:r>
              <a:rPr lang="en-GB" b="1" dirty="0"/>
              <a:t>automate the generation of participation certificates</a:t>
            </a:r>
            <a:r>
              <a:rPr lang="en-GB" dirty="0"/>
              <a:t> by integrating participant data from an Excel sheet with a pre-designed PowerPoint template. The system aims to streamline the certificate creation process, ensuring efficiency, accuracy, and consistency while eliminating the need for manual intervention. This automation is designed to handle large-scale certificate production quickly and reliably, producing professional-quality PDF certificates ready for distribution.</a:t>
            </a: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IN" dirty="0">
              <a:latin typeface="+mj-lt"/>
            </a:endParaRPr>
          </a:p>
        </p:txBody>
      </p:sp>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02223" y="1052736"/>
            <a:ext cx="8596598" cy="5472608"/>
          </a:xfrm>
        </p:spPr>
      </p:pic>
    </p:spTree>
    <p:custDataLst>
      <p:tags r:id="rId1"/>
    </p:custDataLst>
    <p:extLst>
      <p:ext uri="{BB962C8B-B14F-4D97-AF65-F5344CB8AC3E}">
        <p14:creationId xmlns:p14="http://schemas.microsoft.com/office/powerpoint/2010/main" val="37622339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a:xfrm>
            <a:off x="190500" y="914400"/>
            <a:ext cx="8953500" cy="5410200"/>
          </a:xfrm>
        </p:spPr>
        <p:txBody>
          <a:bodyPr/>
          <a:lstStyle/>
          <a:p>
            <a:pPr marL="0" indent="0">
              <a:buNone/>
            </a:pPr>
            <a:r>
              <a:rPr lang="en-US" b="1" dirty="0" smtClean="0"/>
              <a:t>Hardware</a:t>
            </a:r>
          </a:p>
          <a:p>
            <a:pPr>
              <a:buFont typeface="Wingdings" panose="05000000000000000000" pitchFamily="2" charset="2"/>
              <a:buChar char="Ø"/>
            </a:pPr>
            <a:r>
              <a:rPr lang="en-US" b="1" dirty="0" err="1" smtClean="0"/>
              <a:t>Processor:</a:t>
            </a:r>
            <a:r>
              <a:rPr lang="en-US" dirty="0" err="1" smtClean="0"/>
              <a:t>Minimun</a:t>
            </a:r>
            <a:r>
              <a:rPr lang="en-US" dirty="0" smtClean="0"/>
              <a:t> Intel i5</a:t>
            </a:r>
          </a:p>
          <a:p>
            <a:pPr>
              <a:buFont typeface="Wingdings" panose="05000000000000000000" pitchFamily="2" charset="2"/>
              <a:buChar char="Ø"/>
            </a:pPr>
            <a:r>
              <a:rPr lang="en-US" b="1" dirty="0" err="1" smtClean="0"/>
              <a:t>RAM:</a:t>
            </a:r>
            <a:r>
              <a:rPr lang="en-US" dirty="0" err="1" smtClean="0"/>
              <a:t>Minimum</a:t>
            </a:r>
            <a:r>
              <a:rPr lang="en-US" dirty="0" smtClean="0"/>
              <a:t> 8GB</a:t>
            </a:r>
          </a:p>
          <a:p>
            <a:pPr>
              <a:buFont typeface="Wingdings" panose="05000000000000000000" pitchFamily="2" charset="2"/>
              <a:buChar char="Ø"/>
            </a:pPr>
            <a:r>
              <a:rPr lang="en-US" b="1" dirty="0" err="1" smtClean="0"/>
              <a:t>Storage:</a:t>
            </a:r>
            <a:r>
              <a:rPr lang="en-US" dirty="0" err="1" smtClean="0"/>
              <a:t>Minimum</a:t>
            </a:r>
            <a:r>
              <a:rPr lang="en-US" dirty="0" smtClean="0"/>
              <a:t> 20 GB for </a:t>
            </a:r>
            <a:r>
              <a:rPr lang="en-US" dirty="0" err="1" smtClean="0"/>
              <a:t>UiPath</a:t>
            </a:r>
            <a:r>
              <a:rPr lang="en-US" dirty="0" smtClean="0"/>
              <a:t> installation and certificate files.</a:t>
            </a:r>
            <a:endParaRPr lang="en-US" b="1" dirty="0"/>
          </a:p>
          <a:p>
            <a:endParaRPr lang="en-US" b="1" dirty="0" smtClean="0"/>
          </a:p>
          <a:p>
            <a:pPr marL="0" indent="0">
              <a:buNone/>
            </a:pPr>
            <a:r>
              <a:rPr lang="en-US" b="1" dirty="0" smtClean="0"/>
              <a:t>Software</a:t>
            </a:r>
          </a:p>
          <a:p>
            <a:pPr>
              <a:buFont typeface="Wingdings" panose="05000000000000000000" pitchFamily="2" charset="2"/>
              <a:buChar char="Ø"/>
            </a:pPr>
            <a:r>
              <a:rPr lang="en-US" b="1" dirty="0" smtClean="0"/>
              <a:t>Operating </a:t>
            </a:r>
            <a:r>
              <a:rPr lang="en-US" b="1" dirty="0" err="1" smtClean="0"/>
              <a:t>System:</a:t>
            </a:r>
            <a:r>
              <a:rPr lang="en-US" dirty="0" err="1" smtClean="0"/>
              <a:t>Windows</a:t>
            </a:r>
            <a:r>
              <a:rPr lang="en-US" dirty="0" smtClean="0"/>
              <a:t> 10 or higher</a:t>
            </a:r>
          </a:p>
          <a:p>
            <a:pPr>
              <a:buFont typeface="Wingdings" panose="05000000000000000000" pitchFamily="2" charset="2"/>
              <a:buChar char="Ø"/>
            </a:pPr>
            <a:r>
              <a:rPr lang="en-US" b="1" dirty="0" err="1" smtClean="0"/>
              <a:t>UiPath</a:t>
            </a:r>
            <a:r>
              <a:rPr lang="en-US" b="1" dirty="0" smtClean="0"/>
              <a:t> </a:t>
            </a:r>
            <a:r>
              <a:rPr lang="en-US" b="1" dirty="0" err="1" smtClean="0"/>
              <a:t>Studio:</a:t>
            </a:r>
            <a:r>
              <a:rPr lang="en-US" dirty="0" err="1" smtClean="0"/>
              <a:t>Community</a:t>
            </a:r>
            <a:r>
              <a:rPr lang="en-US" dirty="0" smtClean="0"/>
              <a:t> or Enterprise Edition(Latest version)</a:t>
            </a:r>
            <a:endParaRPr lang="en-US" b="1" dirty="0"/>
          </a:p>
          <a:p>
            <a:pPr>
              <a:buFont typeface="Wingdings" panose="05000000000000000000" pitchFamily="2" charset="2"/>
              <a:buChar char="Ø"/>
            </a:pPr>
            <a:r>
              <a:rPr lang="en-US" b="1" dirty="0" smtClean="0"/>
              <a:t>Microsoft </a:t>
            </a:r>
            <a:r>
              <a:rPr lang="en-US" b="1" dirty="0" err="1" smtClean="0"/>
              <a:t>Office:</a:t>
            </a:r>
            <a:r>
              <a:rPr lang="en-US" dirty="0" err="1" smtClean="0"/>
              <a:t>Microsoft</a:t>
            </a:r>
            <a:r>
              <a:rPr lang="en-US" dirty="0" smtClean="0"/>
              <a:t> Excel and Microsoft </a:t>
            </a:r>
            <a:r>
              <a:rPr lang="en-US" dirty="0" err="1" smtClean="0"/>
              <a:t>Powerpoint</a:t>
            </a:r>
            <a:r>
              <a:rPr lang="en-US" dirty="0" smtClean="0"/>
              <a:t> </a:t>
            </a:r>
          </a:p>
        </p:txBody>
      </p:sp>
    </p:spTree>
    <p:custDataLst>
      <p:tags r:id="rId1"/>
    </p:custDataLst>
    <p:extLst>
      <p:ext uri="{BB962C8B-B14F-4D97-AF65-F5344CB8AC3E}">
        <p14:creationId xmlns:p14="http://schemas.microsoft.com/office/powerpoint/2010/main" val="1225227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pPr marL="0" indent="0">
              <a:buNone/>
            </a:pPr>
            <a:r>
              <a:rPr lang="en-GB" b="1" dirty="0"/>
              <a:t>Module 1</a:t>
            </a:r>
            <a:r>
              <a:rPr lang="en-GB" dirty="0"/>
              <a:t>: Data Extraction and </a:t>
            </a:r>
            <a:r>
              <a:rPr lang="en-GB" dirty="0" smtClean="0"/>
              <a:t>Processing</a:t>
            </a:r>
          </a:p>
          <a:p>
            <a:pPr marL="0" indent="0">
              <a:buNone/>
            </a:pPr>
            <a:r>
              <a:rPr lang="en-GB" dirty="0"/>
              <a:t>This module reads participant details </a:t>
            </a:r>
            <a:r>
              <a:rPr lang="en-GB" dirty="0" smtClean="0"/>
              <a:t>from</a:t>
            </a:r>
          </a:p>
          <a:p>
            <a:pPr marL="0" indent="0">
              <a:buNone/>
            </a:pPr>
            <a:r>
              <a:rPr lang="en-GB" dirty="0" smtClean="0"/>
              <a:t>the </a:t>
            </a:r>
            <a:r>
              <a:rPr lang="en-GB" dirty="0"/>
              <a:t>Excel file and processes the data for </a:t>
            </a:r>
            <a:endParaRPr lang="en-GB" dirty="0" smtClean="0"/>
          </a:p>
          <a:p>
            <a:pPr marL="0" indent="0">
              <a:buNone/>
            </a:pPr>
            <a:r>
              <a:rPr lang="en-GB" dirty="0" smtClean="0"/>
              <a:t>use </a:t>
            </a:r>
            <a:r>
              <a:rPr lang="en-GB" dirty="0"/>
              <a:t>in certificate </a:t>
            </a:r>
            <a:r>
              <a:rPr lang="en-GB" dirty="0" smtClean="0"/>
              <a:t>generation.</a:t>
            </a:r>
          </a:p>
          <a:p>
            <a:pPr marL="0" indent="0">
              <a:buNone/>
            </a:pPr>
            <a:endParaRPr lang="en-GB" dirty="0"/>
          </a:p>
          <a:p>
            <a:pPr marL="0" indent="0">
              <a:buNone/>
            </a:pPr>
            <a:r>
              <a:rPr lang="en-GB" b="1" dirty="0"/>
              <a:t>Module 2</a:t>
            </a:r>
            <a:r>
              <a:rPr lang="en-GB" dirty="0"/>
              <a:t>: Certificate </a:t>
            </a:r>
            <a:r>
              <a:rPr lang="en-GB" dirty="0" err="1" smtClean="0"/>
              <a:t>Generation,Export</a:t>
            </a:r>
            <a:endParaRPr lang="en-US" dirty="0"/>
          </a:p>
          <a:p>
            <a:pPr marL="0" indent="0">
              <a:buNone/>
            </a:pPr>
            <a:r>
              <a:rPr lang="en-GB" dirty="0"/>
              <a:t>This module generates certificates using </a:t>
            </a:r>
            <a:r>
              <a:rPr lang="en-GB" dirty="0" smtClean="0"/>
              <a:t>the</a:t>
            </a:r>
          </a:p>
          <a:p>
            <a:pPr marL="0" indent="0">
              <a:buNone/>
            </a:pPr>
            <a:r>
              <a:rPr lang="en-GB" dirty="0" smtClean="0"/>
              <a:t>PowerPoint </a:t>
            </a:r>
            <a:r>
              <a:rPr lang="en-GB" dirty="0"/>
              <a:t>template and exports them as </a:t>
            </a:r>
            <a:endParaRPr lang="en-GB" dirty="0" smtClean="0"/>
          </a:p>
          <a:p>
            <a:pPr marL="0" indent="0">
              <a:buNone/>
            </a:pPr>
            <a:r>
              <a:rPr lang="en-GB" dirty="0" smtClean="0"/>
              <a:t>PDF </a:t>
            </a:r>
            <a:r>
              <a:rPr lang="en-GB" dirty="0"/>
              <a:t>files.</a:t>
            </a:r>
            <a:endParaRPr lang="en-US"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4186" y="1160749"/>
            <a:ext cx="3619814" cy="234026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5974" y="3527141"/>
            <a:ext cx="3780420" cy="2967608"/>
          </a:xfrm>
          <a:prstGeom prst="rect">
            <a:avLst/>
          </a:prstGeom>
        </p:spPr>
      </p:pic>
    </p:spTree>
    <p:custDataLst>
      <p:tags r:id="rId1"/>
    </p:custDataLst>
    <p:extLst>
      <p:ext uri="{BB962C8B-B14F-4D97-AF65-F5344CB8AC3E}">
        <p14:creationId xmlns:p14="http://schemas.microsoft.com/office/powerpoint/2010/main" val="7845066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Table Design</a:t>
            </a:r>
            <a:endParaRPr lang="en-IN" dirty="0">
              <a:latin typeface="+mj-lt"/>
            </a:endParaRPr>
          </a:p>
        </p:txBody>
      </p:sp>
      <p:sp>
        <p:nvSpPr>
          <p:cNvPr id="3" name="Content Placeholder 2"/>
          <p:cNvSpPr>
            <a:spLocks noGrp="1"/>
          </p:cNvSpPr>
          <p:nvPr>
            <p:ph idx="1"/>
          </p:nvPr>
        </p:nvSpPr>
        <p:spPr/>
        <p:txBody>
          <a:bodyPr/>
          <a:lstStyle/>
          <a:p>
            <a:r>
              <a:rPr lang="en-US" dirty="0" smtClean="0"/>
              <a:t>Entity Relationship Diagram</a:t>
            </a:r>
          </a:p>
          <a:p>
            <a:pPr marL="0" indent="0">
              <a:buNone/>
            </a:pPr>
            <a:endParaRPr lang="en-US"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7784" y="1556792"/>
            <a:ext cx="3960439" cy="4932548"/>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Process Design</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marL="0" indent="0">
              <a:buNone/>
            </a:pPr>
            <a:r>
              <a:rPr lang="en-GB" b="1" dirty="0"/>
              <a:t>Main Process: Certificate Generation Automation</a:t>
            </a:r>
          </a:p>
          <a:p>
            <a:r>
              <a:rPr lang="en-GB" b="1" dirty="0"/>
              <a:t>Start Process</a:t>
            </a:r>
            <a:r>
              <a:rPr lang="en-GB" dirty="0"/>
              <a:t>: User triggers the RPA automation.</a:t>
            </a:r>
          </a:p>
          <a:p>
            <a:r>
              <a:rPr lang="en-GB" b="1" dirty="0"/>
              <a:t>Extract Participant Data</a:t>
            </a:r>
            <a:r>
              <a:rPr lang="en-GB" dirty="0"/>
              <a:t>:</a:t>
            </a:r>
          </a:p>
          <a:p>
            <a:pPr lvl="1"/>
            <a:r>
              <a:rPr lang="en-GB" b="1" dirty="0"/>
              <a:t>Read Excel File</a:t>
            </a:r>
            <a:r>
              <a:rPr lang="en-GB" dirty="0"/>
              <a:t>: The bot reads participant details from the Excel sheet.</a:t>
            </a:r>
          </a:p>
          <a:p>
            <a:pPr lvl="1"/>
            <a:r>
              <a:rPr lang="en-GB" b="1" dirty="0"/>
              <a:t>Validate Data</a:t>
            </a:r>
            <a:r>
              <a:rPr lang="en-GB" dirty="0"/>
              <a:t>: Ensures all required fields are correctly filled.</a:t>
            </a:r>
          </a:p>
          <a:p>
            <a:r>
              <a:rPr lang="en-GB" b="1" dirty="0"/>
              <a:t>Process Data</a:t>
            </a:r>
            <a:r>
              <a:rPr lang="en-GB" dirty="0"/>
              <a:t>:</a:t>
            </a:r>
          </a:p>
          <a:p>
            <a:pPr lvl="1"/>
            <a:r>
              <a:rPr lang="en-GB" b="1" dirty="0"/>
              <a:t>Prepare Participant Data</a:t>
            </a:r>
            <a:r>
              <a:rPr lang="en-GB" dirty="0"/>
              <a:t>: Formats the data for certificate generation.</a:t>
            </a:r>
          </a:p>
          <a:p>
            <a:r>
              <a:rPr lang="en-GB" b="1" dirty="0"/>
              <a:t>Generate Certificate</a:t>
            </a:r>
            <a:r>
              <a:rPr lang="en-GB" dirty="0"/>
              <a:t>:</a:t>
            </a:r>
          </a:p>
          <a:p>
            <a:pPr lvl="1"/>
            <a:r>
              <a:rPr lang="en-GB" b="1" dirty="0"/>
              <a:t>Open PowerPoint Template</a:t>
            </a:r>
            <a:r>
              <a:rPr lang="en-GB" dirty="0"/>
              <a:t>: Opens the predefined certificate template.</a:t>
            </a:r>
          </a:p>
          <a:p>
            <a:pPr lvl="1"/>
            <a:r>
              <a:rPr lang="en-GB" b="1" dirty="0"/>
              <a:t>Replace Placeholders</a:t>
            </a:r>
            <a:r>
              <a:rPr lang="en-GB" dirty="0"/>
              <a:t>: Fills in participant details into the template.</a:t>
            </a:r>
          </a:p>
          <a:p>
            <a:pPr lvl="1"/>
            <a:r>
              <a:rPr lang="en-GB" b="1" dirty="0"/>
              <a:t>Save as PDF</a:t>
            </a:r>
            <a:r>
              <a:rPr lang="en-GB" dirty="0"/>
              <a:t>: Saves the filled certificate as a PDF.</a:t>
            </a:r>
          </a:p>
          <a:p>
            <a:r>
              <a:rPr lang="en-GB" b="1" dirty="0"/>
              <a:t>Repeat for All Participants</a:t>
            </a:r>
            <a:r>
              <a:rPr lang="en-GB" dirty="0"/>
              <a:t>: Generates certificates for all participants in the Excel file.</a:t>
            </a:r>
          </a:p>
          <a:p>
            <a:r>
              <a:rPr lang="en-GB" b="1" dirty="0"/>
              <a:t>End Process</a:t>
            </a:r>
            <a:r>
              <a:rPr lang="en-GB" dirty="0"/>
              <a:t>: Process concludes once all certificates are created and saved.</a:t>
            </a:r>
          </a:p>
          <a:p>
            <a:pPr marL="0" indent="0" algn="just">
              <a:buNone/>
            </a:pPr>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Process Design</a:t>
            </a:r>
            <a:endParaRPr lang="en-IN" dirty="0">
              <a:latin typeface="+mj-lt"/>
            </a:endParaRPr>
          </a:p>
        </p:txBody>
      </p:sp>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674671" y="990600"/>
            <a:ext cx="3794657" cy="5334000"/>
          </a:xfrm>
        </p:spPr>
      </p:pic>
    </p:spTree>
    <p:custDataLst>
      <p:tags r:id="rId1"/>
    </p:custDataLst>
    <p:extLst>
      <p:ext uri="{BB962C8B-B14F-4D97-AF65-F5344CB8AC3E}">
        <p14:creationId xmlns:p14="http://schemas.microsoft.com/office/powerpoint/2010/main" val="16377182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02" y="106363"/>
            <a:ext cx="8763000" cy="808037"/>
          </a:xfrm>
        </p:spPr>
        <p:txBody>
          <a:bodyPr>
            <a:normAutofit/>
          </a:bodyPr>
          <a:lstStyle/>
          <a:p>
            <a:r>
              <a:rPr lang="en-US" dirty="0" smtClean="0"/>
              <a:t>Implementation</a:t>
            </a:r>
            <a:endParaRPr lang="en-IN" dirty="0">
              <a:latin typeface="+mj-lt"/>
            </a:endParaRPr>
          </a:p>
        </p:txBody>
      </p:sp>
      <p:sp>
        <p:nvSpPr>
          <p:cNvPr id="3" name="Content Placeholder 2"/>
          <p:cNvSpPr>
            <a:spLocks noGrp="1"/>
          </p:cNvSpPr>
          <p:nvPr>
            <p:ph idx="1"/>
          </p:nvPr>
        </p:nvSpPr>
        <p:spPr>
          <a:xfrm>
            <a:off x="190500" y="990600"/>
            <a:ext cx="3733428" cy="5334000"/>
          </a:xfrm>
        </p:spPr>
        <p:txBody>
          <a:bodyPr>
            <a:normAutofit/>
          </a:bodyPr>
          <a:lstStyle/>
          <a:p>
            <a:pPr marL="0" indent="0" algn="just">
              <a:buNone/>
            </a:pPr>
            <a:endParaRPr lang="en-US" b="1" dirty="0" smtClean="0"/>
          </a:p>
          <a:p>
            <a:pPr marL="0" indent="0" algn="just">
              <a:buNone/>
            </a:pPr>
            <a:r>
              <a:rPr lang="en-US" b="1" dirty="0" smtClean="0"/>
              <a:t>Module 1:</a:t>
            </a:r>
            <a:r>
              <a:rPr lang="en-GB" sz="2000" dirty="0" smtClean="0"/>
              <a:t>Module </a:t>
            </a:r>
            <a:r>
              <a:rPr lang="en-GB" sz="2000" dirty="0"/>
              <a:t>1 extracts participant </a:t>
            </a:r>
            <a:r>
              <a:rPr lang="en-GB" sz="2000" dirty="0" smtClean="0"/>
              <a:t>data from </a:t>
            </a:r>
            <a:r>
              <a:rPr lang="en-GB" sz="2000" dirty="0"/>
              <a:t>an Excel file using </a:t>
            </a:r>
            <a:r>
              <a:rPr lang="en-GB" sz="2000" b="1" dirty="0"/>
              <a:t>Read </a:t>
            </a:r>
            <a:r>
              <a:rPr lang="en-GB" sz="2000" b="1" dirty="0" smtClean="0"/>
              <a:t>Range </a:t>
            </a:r>
            <a:r>
              <a:rPr lang="en-GB" sz="2000" dirty="0" smtClean="0"/>
              <a:t>validates </a:t>
            </a:r>
            <a:r>
              <a:rPr lang="en-GB" sz="2000" dirty="0"/>
              <a:t>the data for </a:t>
            </a:r>
            <a:r>
              <a:rPr lang="en-GB" sz="2000" dirty="0" smtClean="0"/>
              <a:t>completeness and </a:t>
            </a:r>
            <a:r>
              <a:rPr lang="en-GB" sz="2000" dirty="0"/>
              <a:t>correctness, and stores valid entries in a new </a:t>
            </a:r>
            <a:r>
              <a:rPr lang="en-GB" sz="2000" dirty="0" err="1"/>
              <a:t>DataTable</a:t>
            </a:r>
            <a:r>
              <a:rPr lang="en-GB" sz="2000" dirty="0"/>
              <a:t>. This cleaned data is then passed to Module 2 for certificate generation</a:t>
            </a:r>
            <a:r>
              <a:rPr lang="en-GB" sz="2000" dirty="0" smtClean="0"/>
              <a:t>.</a:t>
            </a:r>
          </a:p>
          <a:p>
            <a:pPr marL="0" indent="0" algn="just">
              <a:buNone/>
            </a:pPr>
            <a:endParaRPr lang="en-US" sz="20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3928" y="1088739"/>
            <a:ext cx="5220072" cy="4986657"/>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02" y="106363"/>
            <a:ext cx="8763000" cy="808037"/>
          </a:xfrm>
        </p:spPr>
        <p:txBody>
          <a:bodyPr>
            <a:normAutofit/>
          </a:bodyPr>
          <a:lstStyle/>
          <a:p>
            <a:r>
              <a:rPr lang="en-US" dirty="0" smtClean="0"/>
              <a:t>Implementation</a:t>
            </a:r>
            <a:endParaRPr lang="en-IN" dirty="0">
              <a:latin typeface="+mj-lt"/>
            </a:endParaRPr>
          </a:p>
        </p:txBody>
      </p:sp>
      <p:sp>
        <p:nvSpPr>
          <p:cNvPr id="3" name="Content Placeholder 2"/>
          <p:cNvSpPr>
            <a:spLocks noGrp="1"/>
          </p:cNvSpPr>
          <p:nvPr>
            <p:ph idx="1"/>
          </p:nvPr>
        </p:nvSpPr>
        <p:spPr>
          <a:xfrm>
            <a:off x="190500" y="990600"/>
            <a:ext cx="4381500" cy="5334000"/>
          </a:xfrm>
        </p:spPr>
        <p:txBody>
          <a:bodyPr>
            <a:normAutofit/>
          </a:bodyPr>
          <a:lstStyle/>
          <a:p>
            <a:pPr marL="0" indent="0" algn="just">
              <a:buNone/>
            </a:pPr>
            <a:endParaRPr lang="en-US" sz="2000" dirty="0"/>
          </a:p>
          <a:p>
            <a:pPr marL="0" indent="0" algn="just">
              <a:buNone/>
            </a:pPr>
            <a:r>
              <a:rPr lang="en-US" b="1" dirty="0" smtClean="0"/>
              <a:t>Module 2:</a:t>
            </a:r>
            <a:r>
              <a:rPr lang="en-GB" sz="2000" dirty="0"/>
              <a:t>Module 2 uses the validated participant data to populate placeholders in a PowerPoint certificate template. It opens the template, replaces placeholders with participant details (e.g., name, event), and saves the customized certificate as a PDF for each participant.</a:t>
            </a:r>
            <a:endParaRPr lang="en-US" sz="2000" b="1" dirty="0"/>
          </a:p>
          <a:p>
            <a:pPr marL="0" indent="0" algn="just">
              <a:buNone/>
            </a:pPr>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990600"/>
            <a:ext cx="4381499" cy="5410200"/>
          </a:xfrm>
          <a:prstGeom prst="rect">
            <a:avLst/>
          </a:prstGeom>
        </p:spPr>
      </p:pic>
    </p:spTree>
    <p:custDataLst>
      <p:tags r:id="rId1"/>
    </p:custDataLst>
    <p:extLst>
      <p:ext uri="{BB962C8B-B14F-4D97-AF65-F5344CB8AC3E}">
        <p14:creationId xmlns:p14="http://schemas.microsoft.com/office/powerpoint/2010/main" val="30806408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Testing</a:t>
            </a:r>
            <a:endParaRPr lang="en-IN" dirty="0">
              <a:latin typeface="+mj-lt"/>
            </a:endParaRPr>
          </a:p>
        </p:txBody>
      </p:sp>
      <p:sp>
        <p:nvSpPr>
          <p:cNvPr id="3" name="Content Placeholder 2"/>
          <p:cNvSpPr>
            <a:spLocks noGrp="1"/>
          </p:cNvSpPr>
          <p:nvPr>
            <p:ph idx="1"/>
          </p:nvPr>
        </p:nvSpPr>
        <p:spPr/>
        <p:txBody>
          <a:bodyPr>
            <a:normAutofit lnSpcReduction="10000"/>
          </a:bodyPr>
          <a:lstStyle/>
          <a:p>
            <a:pPr marL="0" indent="0" algn="just">
              <a:buNone/>
            </a:pPr>
            <a:r>
              <a:rPr lang="en-GB" dirty="0" smtClean="0"/>
              <a:t>	Testing </a:t>
            </a:r>
            <a:r>
              <a:rPr lang="en-GB" dirty="0"/>
              <a:t>for this project involves verifying the correct functionality of both Module 1 and Module 2. For Module 1, tests are conducted to ensure that participant data is accurately read from the Excel file, properly validated, and that only valid data is passed to Module 2. This includes checking for missing or incorrect entries. In Module 2, the tests focus on verifying that the PowerPoint template is correctly opened, placeholders are accurately replaced with participant information, and the certificate is successfully saved as a PDF. The system is tested with multiple participants to ensure that it can handle different data inputs and generate the correct certificates for each. Additionally, edge cases such as incomplete or malformed data in the Excel file are tested to ensure proper error handling and logging.</a:t>
            </a:r>
            <a:endParaRPr lang="en-US" dirty="0"/>
          </a:p>
        </p:txBody>
      </p:sp>
    </p:spTree>
    <p:custDataLst>
      <p:tags r:id="rId1"/>
    </p:custDataLst>
    <p:extLst>
      <p:ext uri="{BB962C8B-B14F-4D97-AF65-F5344CB8AC3E}">
        <p14:creationId xmlns:p14="http://schemas.microsoft.com/office/powerpoint/2010/main" val="19213275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Testing</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ctr">
              <a:buNone/>
            </a:pPr>
            <a:endParaRPr lang="en-GB" dirty="0" smtClean="0"/>
          </a:p>
          <a:p>
            <a:pPr marL="0" indent="0" algn="ctr">
              <a:buNone/>
            </a:pPr>
            <a:endParaRPr lang="en-GB" dirty="0"/>
          </a:p>
          <a:p>
            <a:pPr marL="0" indent="0" algn="ctr">
              <a:buNone/>
            </a:pPr>
            <a:endParaRPr lang="en-GB" dirty="0" smtClean="0"/>
          </a:p>
          <a:p>
            <a:pPr marL="0" indent="0" algn="ctr">
              <a:buNone/>
            </a:pPr>
            <a:r>
              <a:rPr lang="en-GB" dirty="0" smtClean="0"/>
              <a:t>Participants Excel sheet</a:t>
            </a:r>
            <a:endParaRPr lang="en-US" dirty="0"/>
          </a:p>
        </p:txBody>
      </p:sp>
      <p:pic>
        <p:nvPicPr>
          <p:cNvPr id="5" name="Picture 4"/>
          <p:cNvPicPr>
            <a:picLocks noChangeAspect="1"/>
          </p:cNvPicPr>
          <p:nvPr/>
        </p:nvPicPr>
        <p:blipFill>
          <a:blip r:embed="rId4"/>
          <a:stretch>
            <a:fillRect/>
          </a:stretch>
        </p:blipFill>
        <p:spPr>
          <a:xfrm>
            <a:off x="487326" y="990600"/>
            <a:ext cx="8169348" cy="4625741"/>
          </a:xfrm>
          <a:prstGeom prst="rect">
            <a:avLst/>
          </a:prstGeom>
        </p:spPr>
      </p:pic>
    </p:spTree>
    <p:custDataLst>
      <p:tags r:id="rId1"/>
    </p:custDataLst>
    <p:extLst>
      <p:ext uri="{BB962C8B-B14F-4D97-AF65-F5344CB8AC3E}">
        <p14:creationId xmlns:p14="http://schemas.microsoft.com/office/powerpoint/2010/main" val="40477284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Testing</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ctr">
              <a:buNone/>
            </a:pPr>
            <a:endParaRPr lang="en-GB" dirty="0" smtClean="0"/>
          </a:p>
          <a:p>
            <a:pPr marL="0" indent="0" algn="ctr">
              <a:buNone/>
            </a:pPr>
            <a:endParaRPr lang="en-GB" dirty="0"/>
          </a:p>
          <a:p>
            <a:pPr marL="0" indent="0" algn="ctr">
              <a:buNone/>
            </a:pPr>
            <a:endParaRPr lang="en-GB" dirty="0" smtClean="0"/>
          </a:p>
          <a:p>
            <a:pPr marL="0" indent="0" algn="ctr">
              <a:buNone/>
            </a:pPr>
            <a:r>
              <a:rPr lang="en-GB" dirty="0" smtClean="0"/>
              <a:t>Certificates template</a:t>
            </a:r>
            <a:endParaRPr lang="en-US" dirty="0"/>
          </a:p>
        </p:txBody>
      </p:sp>
      <p:pic>
        <p:nvPicPr>
          <p:cNvPr id="4" name="Picture 3"/>
          <p:cNvPicPr>
            <a:picLocks noChangeAspect="1"/>
          </p:cNvPicPr>
          <p:nvPr/>
        </p:nvPicPr>
        <p:blipFill>
          <a:blip r:embed="rId4"/>
          <a:stretch>
            <a:fillRect/>
          </a:stretch>
        </p:blipFill>
        <p:spPr>
          <a:xfrm>
            <a:off x="258706" y="944664"/>
            <a:ext cx="8626588" cy="4968671"/>
          </a:xfrm>
          <a:prstGeom prst="rect">
            <a:avLst/>
          </a:prstGeom>
        </p:spPr>
      </p:pic>
    </p:spTree>
    <p:custDataLst>
      <p:tags r:id="rId1"/>
    </p:custDataLst>
    <p:extLst>
      <p:ext uri="{BB962C8B-B14F-4D97-AF65-F5344CB8AC3E}">
        <p14:creationId xmlns:p14="http://schemas.microsoft.com/office/powerpoint/2010/main" val="31633402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Testing</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ctr">
              <a:buNone/>
            </a:pPr>
            <a:endParaRPr lang="en-GB" dirty="0" smtClean="0"/>
          </a:p>
          <a:p>
            <a:pPr marL="0" indent="0" algn="ctr">
              <a:buNone/>
            </a:pPr>
            <a:endParaRPr lang="en-GB" dirty="0"/>
          </a:p>
          <a:p>
            <a:pPr marL="0" indent="0" algn="ctr">
              <a:buNone/>
            </a:pPr>
            <a:endParaRPr lang="en-GB" dirty="0" smtClean="0"/>
          </a:p>
          <a:p>
            <a:pPr marL="0" indent="0" algn="ctr">
              <a:buNone/>
            </a:pPr>
            <a:r>
              <a:rPr lang="en-GB" dirty="0" smtClean="0"/>
              <a:t>Before Debugging</a:t>
            </a:r>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258" y="990388"/>
            <a:ext cx="8809483" cy="4877223"/>
          </a:xfrm>
          <a:prstGeom prst="rect">
            <a:avLst/>
          </a:prstGeom>
        </p:spPr>
      </p:pic>
    </p:spTree>
    <p:custDataLst>
      <p:tags r:id="rId1"/>
    </p:custDataLst>
    <p:extLst>
      <p:ext uri="{BB962C8B-B14F-4D97-AF65-F5344CB8AC3E}">
        <p14:creationId xmlns:p14="http://schemas.microsoft.com/office/powerpoint/2010/main" val="23457384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Testing</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just">
              <a:buNone/>
            </a:pPr>
            <a:endParaRPr lang="en-GB" dirty="0"/>
          </a:p>
          <a:p>
            <a:pPr marL="0" indent="0" algn="just">
              <a:buNone/>
            </a:pPr>
            <a:endParaRPr lang="en-GB" dirty="0" smtClean="0"/>
          </a:p>
          <a:p>
            <a:pPr marL="0" indent="0" algn="ctr">
              <a:buNone/>
            </a:pPr>
            <a:endParaRPr lang="en-GB" dirty="0" smtClean="0"/>
          </a:p>
          <a:p>
            <a:pPr marL="0" indent="0" algn="ctr">
              <a:buNone/>
            </a:pPr>
            <a:endParaRPr lang="en-GB" dirty="0"/>
          </a:p>
          <a:p>
            <a:pPr marL="0" indent="0" algn="ctr">
              <a:buNone/>
            </a:pPr>
            <a:endParaRPr lang="en-GB" dirty="0" smtClean="0"/>
          </a:p>
          <a:p>
            <a:pPr marL="0" indent="0" algn="ctr">
              <a:buNone/>
            </a:pPr>
            <a:r>
              <a:rPr lang="en-GB" dirty="0" smtClean="0"/>
              <a:t>Certificates successfully generated</a:t>
            </a:r>
            <a:endParaRPr lang="en-US" dirty="0"/>
          </a:p>
        </p:txBody>
      </p:sp>
      <p:pic>
        <p:nvPicPr>
          <p:cNvPr id="5" name="Picture 4"/>
          <p:cNvPicPr>
            <a:picLocks noChangeAspect="1"/>
          </p:cNvPicPr>
          <p:nvPr/>
        </p:nvPicPr>
        <p:blipFill>
          <a:blip r:embed="rId4"/>
          <a:stretch>
            <a:fillRect/>
          </a:stretch>
        </p:blipFill>
        <p:spPr>
          <a:xfrm>
            <a:off x="437791" y="990599"/>
            <a:ext cx="8268417" cy="4886673"/>
          </a:xfrm>
          <a:prstGeom prst="rect">
            <a:avLst/>
          </a:prstGeom>
        </p:spPr>
      </p:pic>
    </p:spTree>
    <p:custDataLst>
      <p:tags r:id="rId1"/>
    </p:custDataLst>
    <p:extLst>
      <p:ext uri="{BB962C8B-B14F-4D97-AF65-F5344CB8AC3E}">
        <p14:creationId xmlns:p14="http://schemas.microsoft.com/office/powerpoint/2010/main" val="40551281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Conclusions</a:t>
            </a:r>
            <a:endParaRPr lang="en-IN" dirty="0">
              <a:latin typeface="+mj-lt"/>
            </a:endParaRPr>
          </a:p>
        </p:txBody>
      </p:sp>
      <p:sp>
        <p:nvSpPr>
          <p:cNvPr id="3" name="Content Placeholder 2"/>
          <p:cNvSpPr>
            <a:spLocks noGrp="1"/>
          </p:cNvSpPr>
          <p:nvPr>
            <p:ph idx="1"/>
          </p:nvPr>
        </p:nvSpPr>
        <p:spPr/>
        <p:txBody>
          <a:bodyPr/>
          <a:lstStyle/>
          <a:p>
            <a:pPr marL="0" indent="0" algn="just">
              <a:buNone/>
            </a:pPr>
            <a:r>
              <a:rPr lang="en-GB" dirty="0" smtClean="0"/>
              <a:t>	In </a:t>
            </a:r>
            <a:r>
              <a:rPr lang="en-GB" dirty="0"/>
              <a:t>conclusion, the </a:t>
            </a:r>
            <a:r>
              <a:rPr lang="en-GB" b="1" dirty="0"/>
              <a:t>Excel-to-Certificate Automation</a:t>
            </a:r>
            <a:r>
              <a:rPr lang="en-GB" dirty="0"/>
              <a:t> project successfully streamlines the process of generating customized certificates for participants. By automating the extraction, validation, and processing of data from Excel and integrating it with a PowerPoint certificate template, the system reduces manual effort and the potential for errors. The project’s modular approach, with separate modules for data processing and certificate generation, ensures flexibility and ease of maintenance. This solution not only saves time but also improves efficiency, making it ideal for handling large volumes of participant data and generating certificates quickly and accurately. The use of RPA with </a:t>
            </a:r>
            <a:r>
              <a:rPr lang="en-GB" dirty="0" err="1"/>
              <a:t>UiPath</a:t>
            </a:r>
            <a:r>
              <a:rPr lang="en-GB" dirty="0"/>
              <a:t> enhances automation, ensuring scalability and consistency in certificate generation.</a:t>
            </a:r>
            <a:endParaRPr lang="en-US" dirty="0" smtClean="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Future Enhancement</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r>
              <a:rPr lang="en-GB" b="1" dirty="0"/>
              <a:t>Dynamic Template Support</a:t>
            </a:r>
            <a:r>
              <a:rPr lang="en-GB" dirty="0"/>
              <a:t>: Allow users to upload different certificate templates, enabling customization for various events or certificate types</a:t>
            </a:r>
            <a:r>
              <a:rPr lang="en-GB" dirty="0" smtClean="0"/>
              <a:t>.</a:t>
            </a:r>
          </a:p>
          <a:p>
            <a:pPr algn="just"/>
            <a:r>
              <a:rPr lang="en-GB" b="1" dirty="0"/>
              <a:t>Error Handling and Reporting</a:t>
            </a:r>
            <a:r>
              <a:rPr lang="en-GB" dirty="0"/>
              <a:t>: Implement more robust error handling to manage exceptions such as invalid data formats, missing files, or failed PDF generation. An automated error reporting system could notify users of issues</a:t>
            </a:r>
            <a:r>
              <a:rPr lang="en-GB" dirty="0" smtClean="0"/>
              <a:t>.</a:t>
            </a:r>
          </a:p>
          <a:p>
            <a:pPr algn="just"/>
            <a:r>
              <a:rPr lang="en-GB" b="1" dirty="0"/>
              <a:t>Bulk Email Integration</a:t>
            </a:r>
            <a:r>
              <a:rPr lang="en-GB" dirty="0"/>
              <a:t>: Add functionality to automatically send generated certificates to participants via email, streamlining the distribution process</a:t>
            </a:r>
            <a:r>
              <a:rPr lang="en-GB" dirty="0" smtClean="0"/>
              <a:t>.</a:t>
            </a:r>
          </a:p>
          <a:p>
            <a:pPr algn="just"/>
            <a:r>
              <a:rPr lang="en-GB" b="1" dirty="0"/>
              <a:t>Web Interface</a:t>
            </a:r>
            <a:r>
              <a:rPr lang="en-GB" dirty="0"/>
              <a:t>: Develop a web-based interface where users can upload participant data, choose templates, and download the generated certificates, making the system more accessible.</a:t>
            </a:r>
            <a:endParaRPr lang="en-US" dirty="0" smtClean="0"/>
          </a:p>
          <a:p>
            <a:endParaRPr lang="en-US" dirty="0" smtClean="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IEEE Paper</a:t>
            </a:r>
            <a:endParaRPr lang="en-IN" dirty="0">
              <a:latin typeface="+mj-lt"/>
            </a:endParaRPr>
          </a:p>
        </p:txBody>
      </p:sp>
      <p:sp>
        <p:nvSpPr>
          <p:cNvPr id="3" name="Content Placeholder 2"/>
          <p:cNvSpPr>
            <a:spLocks noGrp="1"/>
          </p:cNvSpPr>
          <p:nvPr>
            <p:ph idx="1"/>
          </p:nvPr>
        </p:nvSpPr>
        <p:spPr/>
        <p:txBody>
          <a:bodyPr/>
          <a:lstStyle/>
          <a:p>
            <a:r>
              <a:rPr lang="en-US" b="1" dirty="0" smtClean="0"/>
              <a:t>Title:</a:t>
            </a:r>
            <a:r>
              <a:rPr lang="en-GB" dirty="0"/>
              <a:t>Applications, Tools and Technologies of Robotic Process Automation in Various </a:t>
            </a:r>
            <a:r>
              <a:rPr lang="en-GB" dirty="0" smtClean="0"/>
              <a:t>Industries.</a:t>
            </a:r>
            <a:endParaRPr lang="en-US" dirty="0" smtClean="0"/>
          </a:p>
          <a:p>
            <a:r>
              <a:rPr lang="en-US" b="1" dirty="0" smtClean="0"/>
              <a:t>Authors: </a:t>
            </a:r>
            <a:r>
              <a:rPr lang="en-IN" u="sng" dirty="0" err="1" smtClean="0">
                <a:hlinkClick r:id="rId4"/>
              </a:rPr>
              <a:t>Shagun</a:t>
            </a:r>
            <a:r>
              <a:rPr lang="en-IN" u="sng" dirty="0" smtClean="0">
                <a:hlinkClick r:id="rId4"/>
              </a:rPr>
              <a:t> Sharma</a:t>
            </a:r>
            <a:r>
              <a:rPr lang="en-IN" dirty="0" smtClean="0"/>
              <a:t>;</a:t>
            </a:r>
            <a:r>
              <a:rPr lang="en-IN" dirty="0"/>
              <a:t> </a:t>
            </a:r>
            <a:r>
              <a:rPr lang="en-IN" dirty="0">
                <a:hlinkClick r:id="rId5"/>
              </a:rPr>
              <a:t>Anjali </a:t>
            </a:r>
            <a:r>
              <a:rPr lang="en-IN" dirty="0" err="1">
                <a:hlinkClick r:id="rId5"/>
              </a:rPr>
              <a:t>Kataria</a:t>
            </a:r>
            <a:r>
              <a:rPr lang="en-IN" dirty="0"/>
              <a:t>; </a:t>
            </a:r>
            <a:r>
              <a:rPr lang="en-IN" dirty="0" err="1">
                <a:hlinkClick r:id="rId6"/>
              </a:rPr>
              <a:t>Jasminder</a:t>
            </a:r>
            <a:r>
              <a:rPr lang="en-IN" dirty="0">
                <a:hlinkClick r:id="rId6"/>
              </a:rPr>
              <a:t> Kaur </a:t>
            </a:r>
            <a:r>
              <a:rPr lang="en-IN" dirty="0" smtClean="0">
                <a:hlinkClick r:id="rId6"/>
              </a:rPr>
              <a:t>Sandhu</a:t>
            </a:r>
            <a:endParaRPr lang="en-US" dirty="0">
              <a:hlinkClick r:id="rId6"/>
            </a:endParaRPr>
          </a:p>
          <a:p>
            <a:pPr marL="0" indent="0" algn="just">
              <a:buNone/>
            </a:pPr>
            <a:r>
              <a:rPr lang="en-GB" dirty="0"/>
              <a:t>The paper </a:t>
            </a:r>
            <a:r>
              <a:rPr lang="en-GB" b="1" dirty="0"/>
              <a:t>"Applications, Tools and Technologies of Robotic Process Automation in Various Industries"</a:t>
            </a:r>
            <a:r>
              <a:rPr lang="en-GB" dirty="0"/>
              <a:t> explores how RPA is applied across diverse sectors, including finance, healthcare, and business administration, particularly for automating repetitive tasks like document generation and data entry. This paper discusses the various RPA tools and technologies and their benefits in reducing operational costs and improving efficiency.</a:t>
            </a:r>
            <a:endParaRPr lang="en-US" b="1" dirty="0"/>
          </a:p>
        </p:txBody>
      </p:sp>
    </p:spTree>
    <p:custDataLst>
      <p:tags r:id="rId1"/>
    </p:custDataLst>
    <p:extLst>
      <p:ext uri="{BB962C8B-B14F-4D97-AF65-F5344CB8AC3E}">
        <p14:creationId xmlns:p14="http://schemas.microsoft.com/office/powerpoint/2010/main" val="32772628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References</a:t>
            </a:r>
            <a:endParaRPr lang="en-IN" dirty="0">
              <a:latin typeface="+mj-lt"/>
            </a:endParaRPr>
          </a:p>
        </p:txBody>
      </p:sp>
      <p:sp>
        <p:nvSpPr>
          <p:cNvPr id="3" name="Content Placeholder 2"/>
          <p:cNvSpPr>
            <a:spLocks noGrp="1"/>
          </p:cNvSpPr>
          <p:nvPr>
            <p:ph idx="1"/>
          </p:nvPr>
        </p:nvSpPr>
        <p:spPr>
          <a:xfrm>
            <a:off x="190500" y="1592796"/>
            <a:ext cx="8763000" cy="4731804"/>
          </a:xfrm>
        </p:spPr>
        <p:txBody>
          <a:bodyPr/>
          <a:lstStyle/>
          <a:p>
            <a:pPr algn="just"/>
            <a:r>
              <a:rPr lang="en-GB" dirty="0"/>
              <a:t>Siddiqui, K., &amp; Raj, D. (2021). "Applications, Tools, and Technologies of Robotic Process Automation in Various Industries</a:t>
            </a:r>
            <a:r>
              <a:rPr lang="en-GB" dirty="0" smtClean="0"/>
              <a:t>.”</a:t>
            </a:r>
          </a:p>
          <a:p>
            <a:pPr algn="just"/>
            <a:r>
              <a:rPr lang="en-GB" dirty="0" err="1"/>
              <a:t>Avasarala</a:t>
            </a:r>
            <a:r>
              <a:rPr lang="en-GB" dirty="0"/>
              <a:t>, R., &amp; Sharma, P. (2020). "Robotic Process Automation: A Scientific and Industrial Systematic Mapping Study</a:t>
            </a:r>
            <a:r>
              <a:rPr lang="en-GB" dirty="0" smtClean="0"/>
              <a:t>.”</a:t>
            </a:r>
          </a:p>
          <a:p>
            <a:pPr algn="just"/>
            <a:r>
              <a:rPr lang="en-GB" dirty="0"/>
              <a:t>Pereira, F., &amp; </a:t>
            </a:r>
            <a:r>
              <a:rPr lang="en-GB" dirty="0" err="1"/>
              <a:t>Meirelles</a:t>
            </a:r>
            <a:r>
              <a:rPr lang="en-GB" dirty="0"/>
              <a:t>, R. (2020). "Automation in Business: RPA for Document Processing and Generation</a:t>
            </a:r>
            <a:r>
              <a:rPr lang="en-GB" dirty="0" smtClean="0"/>
              <a:t>.”</a:t>
            </a:r>
          </a:p>
          <a:p>
            <a:pPr algn="just"/>
            <a:r>
              <a:rPr lang="en-IN" dirty="0"/>
              <a:t>Wang, X., &amp; Li, J. (2019). "Robotic Process Automation for Document Management."</a:t>
            </a:r>
            <a:endParaRPr lang="en-GB" dirty="0" smtClean="0"/>
          </a:p>
          <a:p>
            <a:pPr algn="just"/>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smtClean="0">
                <a:ln w="0"/>
                <a:effectLst>
                  <a:outerShdw blurRad="38100" dist="19050" dir="2700000" algn="tl" rotWithShape="0">
                    <a:schemeClr val="dk1">
                      <a:alpha val="40000"/>
                    </a:schemeClr>
                  </a:outerShdw>
                </a:effectLst>
              </a:rPr>
              <a:t>Queries</a:t>
            </a:r>
            <a:endParaRPr lang="en-US" sz="9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918022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smtClean="0">
                <a:ln w="0"/>
                <a:effectLst>
                  <a:outerShdw blurRad="38100" dist="19050" dir="2700000" algn="tl" rotWithShape="0">
                    <a:schemeClr val="dk1">
                      <a:alpha val="40000"/>
                    </a:schemeClr>
                  </a:outerShdw>
                </a:effectLst>
              </a:rPr>
              <a:t>Demonstration</a:t>
            </a:r>
            <a:endParaRPr lang="en-US" sz="9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063687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ags/tag20.xml><?xml version="1.0" encoding="utf-8"?>
<p:tagLst xmlns:a="http://schemas.openxmlformats.org/drawingml/2006/main" xmlns:r="http://schemas.openxmlformats.org/officeDocument/2006/relationships" xmlns:p="http://schemas.openxmlformats.org/presentationml/2006/main">
  <p:tag name="TIMING" val="|1.1|4|2.4|1.4"/>
</p:tagLst>
</file>

<file path=ppt/tags/tag21.xml><?xml version="1.0" encoding="utf-8"?>
<p:tagLst xmlns:a="http://schemas.openxmlformats.org/drawingml/2006/main" xmlns:r="http://schemas.openxmlformats.org/officeDocument/2006/relationships" xmlns:p="http://schemas.openxmlformats.org/presentationml/2006/main">
  <p:tag name="TIMING" val="|1.1|4|2.4|1.4"/>
</p:tagLst>
</file>

<file path=ppt/tags/tag22.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9259</TotalTime>
  <Words>803</Words>
  <Application>Microsoft Office PowerPoint</Application>
  <PresentationFormat>On-screen Show (4:3)</PresentationFormat>
  <Paragraphs>183</Paragraphs>
  <Slides>26</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Calibri</vt:lpstr>
      <vt:lpstr>Open Sans</vt:lpstr>
      <vt:lpstr>Open Sans Bold</vt:lpstr>
      <vt:lpstr>Open Sans Extrabold</vt:lpstr>
      <vt:lpstr>Open Sans Light</vt:lpstr>
      <vt:lpstr>Open Sans Semibold</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vt:lpstr>
      <vt:lpstr>Process Design</vt:lpstr>
      <vt:lpstr>Process Design</vt:lpstr>
      <vt:lpstr>Implementation</vt:lpstr>
      <vt:lpstr>Implementation</vt:lpstr>
      <vt:lpstr>Testing</vt:lpstr>
      <vt:lpstr>Testing</vt:lpstr>
      <vt:lpstr>Testing</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Kaaviya Gopal</dc:creator>
  <cp:lastModifiedBy>Kaaviya Gopal</cp:lastModifiedBy>
  <cp:revision>1750</cp:revision>
  <dcterms:created xsi:type="dcterms:W3CDTF">2013-05-17T03:00:03Z</dcterms:created>
  <dcterms:modified xsi:type="dcterms:W3CDTF">2024-11-21T16:40:00Z</dcterms:modified>
</cp:coreProperties>
</file>